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1" r:id="rId1"/>
  </p:sldMasterIdLst>
  <p:notesMasterIdLst>
    <p:notesMasterId r:id="rId10"/>
  </p:notesMasterIdLst>
  <p:sldIdLst>
    <p:sldId id="371" r:id="rId2"/>
    <p:sldId id="360" r:id="rId3"/>
    <p:sldId id="358" r:id="rId4"/>
    <p:sldId id="365" r:id="rId5"/>
    <p:sldId id="364" r:id="rId6"/>
    <p:sldId id="366" r:id="rId7"/>
    <p:sldId id="372" r:id="rId8"/>
    <p:sldId id="27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AAD0"/>
    <a:srgbClr val="3D4960"/>
    <a:srgbClr val="5CC7DA"/>
    <a:srgbClr val="00AFCD"/>
    <a:srgbClr val="00FDFF"/>
    <a:srgbClr val="97D2EB"/>
    <a:srgbClr val="E2E2C3"/>
    <a:srgbClr val="666657"/>
    <a:srgbClr val="405646"/>
    <a:srgbClr val="B5D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9C04-07AB-4A2A-BC52-DCA0026B531C}" type="datetimeFigureOut">
              <a:rPr lang="es-CO" smtClean="0"/>
              <a:t>2/10/2019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BC937-937F-4075-955D-695F93DEF6E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82690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40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A959-5F8A-4AC3-B17C-14B25E084969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89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903F-F2AE-4F10-89FD-77505A4C72D7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735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A225-6F1E-44B9-BB40-6C0D8BAACB7C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923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34E92-84CE-4888-A201-BD72C5481CB5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887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A069-C43B-4520-B280-022E14AC173A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601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61B4-865A-4D7C-A4CA-C00A679D9B00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7758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161D-BE1E-412A-A439-B58CC38DAB0F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740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69962-18D5-4689-A120-DA2B1DE07C8F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29845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35143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53649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854500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748074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15223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5502977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69AFF-C202-469C-B6E5-5F144F4173CB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7525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BC30-5CB7-49AA-BF1B-FB354E4332A2}" type="datetime1">
              <a:rPr lang="es-CO" smtClean="0"/>
              <a:t>2/10/2019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Mirus Smart Solutions 2018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0702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603F14-53B4-48F7-980E-D21B6438DF91}" type="slidenum">
              <a:rPr lang="es-CO" smtClean="0"/>
              <a:t>‹Nº›</a:t>
            </a:fld>
            <a:endParaRPr lang="es-CO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0C215FD-F865-47C0-837D-7D3E01577F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86295" y="542520"/>
            <a:ext cx="11567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2E22397-89E0-452D-ACBA-110DC5ED3D5B}"/>
              </a:ext>
            </a:extLst>
          </p:cNvPr>
          <p:cNvGrpSpPr/>
          <p:nvPr userDrawn="1"/>
        </p:nvGrpSpPr>
        <p:grpSpPr>
          <a:xfrm>
            <a:off x="3350170" y="6013220"/>
            <a:ext cx="5491660" cy="750359"/>
            <a:chOff x="1104900" y="3104188"/>
            <a:chExt cx="9807181" cy="1340014"/>
          </a:xfrm>
        </p:grpSpPr>
        <p:sp>
          <p:nvSpPr>
            <p:cNvPr id="15" name="Rectángulo: esquinas redondeadas 5">
              <a:extLst>
                <a:ext uri="{FF2B5EF4-FFF2-40B4-BE49-F238E27FC236}">
                  <a16:creationId xmlns:a16="http://schemas.microsoft.com/office/drawing/2014/main" id="{4DE86BAB-7DCD-4B9A-AB36-456A182D3F2F}"/>
                </a:ext>
              </a:extLst>
            </p:cNvPr>
            <p:cNvSpPr/>
            <p:nvPr/>
          </p:nvSpPr>
          <p:spPr>
            <a:xfrm>
              <a:off x="1104900" y="3104188"/>
              <a:ext cx="9807181" cy="13400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2213A6B9-4A6A-4D6D-875B-4B31AFDA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438942" y="3529395"/>
              <a:ext cx="9083283" cy="6253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4106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3322F-6BED-474F-8BDD-66E457E5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7" y="298892"/>
            <a:ext cx="11577711" cy="1507067"/>
          </a:xfrm>
        </p:spPr>
        <p:txBody>
          <a:bodyPr>
            <a:normAutofit fontScale="90000"/>
          </a:bodyPr>
          <a:lstStyle/>
          <a:p>
            <a:pPr algn="ctr"/>
            <a:r>
              <a:rPr lang="es-VE" b="1" dirty="0"/>
              <a:t>Aplicación para la </a:t>
            </a:r>
            <a:r>
              <a:rPr lang="es-ES" b="1" dirty="0"/>
              <a:t>E</a:t>
            </a:r>
            <a:r>
              <a:rPr lang="es-VE" b="1" dirty="0" err="1"/>
              <a:t>nseñanza</a:t>
            </a:r>
            <a:r>
              <a:rPr lang="es-VE" b="1" dirty="0"/>
              <a:t> y el </a:t>
            </a:r>
            <a:r>
              <a:rPr lang="es-ES" b="1" dirty="0"/>
              <a:t>R</a:t>
            </a:r>
            <a:r>
              <a:rPr lang="es-VE" b="1" dirty="0" err="1"/>
              <a:t>efuerzo</a:t>
            </a:r>
            <a:r>
              <a:rPr lang="es-VE" b="1" dirty="0"/>
              <a:t> de la </a:t>
            </a:r>
            <a:r>
              <a:rPr lang="es-ES" b="1" dirty="0"/>
              <a:t>S</a:t>
            </a:r>
            <a:r>
              <a:rPr lang="es-VE" b="1" dirty="0" err="1"/>
              <a:t>ilabación</a:t>
            </a:r>
            <a:r>
              <a:rPr lang="es-VE" b="1" dirty="0"/>
              <a:t> y la </a:t>
            </a:r>
            <a:r>
              <a:rPr lang="es-ES" b="1" dirty="0"/>
              <a:t>T</a:t>
            </a:r>
            <a:r>
              <a:rPr lang="es-VE" b="1" dirty="0" err="1"/>
              <a:t>ildación</a:t>
            </a:r>
            <a:r>
              <a:rPr lang="es-VE" b="1" dirty="0"/>
              <a:t> en el </a:t>
            </a:r>
            <a:r>
              <a:rPr lang="es-ES" b="1" dirty="0"/>
              <a:t>I</a:t>
            </a:r>
            <a:r>
              <a:rPr lang="es-VE" b="1" dirty="0" err="1"/>
              <a:t>dioma</a:t>
            </a:r>
            <a:r>
              <a:rPr lang="es-VE" b="1" dirty="0"/>
              <a:t> </a:t>
            </a:r>
            <a:r>
              <a:rPr lang="es-ES" b="1" dirty="0"/>
              <a:t>E</a:t>
            </a:r>
            <a:r>
              <a:rPr lang="es-VE" b="1" dirty="0" err="1"/>
              <a:t>spañol</a:t>
            </a:r>
            <a:endParaRPr lang="es-CO" b="1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4B436F0-8F29-4015-9536-550C7BBC99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132" y="2120986"/>
            <a:ext cx="4104484" cy="3684588"/>
          </a:xfr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5563326-F70C-4722-B093-13427ADC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603F14-53B4-48F7-980E-D21B6438DF91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O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42E341-2411-47DB-84F7-A136FCEEA010}"/>
              </a:ext>
            </a:extLst>
          </p:cNvPr>
          <p:cNvSpPr txBox="1"/>
          <p:nvPr/>
        </p:nvSpPr>
        <p:spPr>
          <a:xfrm>
            <a:off x="4570370" y="5661878"/>
            <a:ext cx="4104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M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a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t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i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l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97D2EB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d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e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 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T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i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l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d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2668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AE307-4F7F-DC49-A72D-EA7BA70F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059" y="-67000"/>
            <a:ext cx="8534400" cy="1507067"/>
          </a:xfrm>
        </p:spPr>
        <p:txBody>
          <a:bodyPr/>
          <a:lstStyle/>
          <a:p>
            <a:pPr algn="ctr"/>
            <a:r>
              <a:rPr lang="es-CO" dirty="0"/>
              <a:t>Equipo de trabajo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72A8DD-FD7C-C940-BEC4-0DE0F2AF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2</a:t>
            </a:fld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6F3E06-5D68-9846-93BF-842B6643D0A3}"/>
              </a:ext>
            </a:extLst>
          </p:cNvPr>
          <p:cNvSpPr txBox="1"/>
          <p:nvPr/>
        </p:nvSpPr>
        <p:spPr>
          <a:xfrm>
            <a:off x="2064766" y="4059258"/>
            <a:ext cx="388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Maven Pro Light 300" panose="02000000000000000000" pitchFamily="2" charset="0"/>
              </a:rPr>
              <a:t>Agustín Palomino Pardo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7B5735-D092-DA40-9A88-B0F66215CFA7}"/>
              </a:ext>
            </a:extLst>
          </p:cNvPr>
          <p:cNvSpPr txBox="1"/>
          <p:nvPr/>
        </p:nvSpPr>
        <p:spPr>
          <a:xfrm>
            <a:off x="6764182" y="4059258"/>
            <a:ext cx="3902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Maven Pro Light 300" panose="02000000000000000000" pitchFamily="2" charset="0"/>
              </a:rPr>
              <a:t>Andrés Eduardo Restrepo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865" y="1552488"/>
            <a:ext cx="1733460" cy="2311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4" descr="blob:https://web.whatsapp.com/4b696ec9-40b3-42cf-9fca-db3389f353c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051" y="1835612"/>
            <a:ext cx="1893473" cy="2028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7375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578CA-55C6-334C-889A-80C7B918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027" y="0"/>
            <a:ext cx="8534400" cy="1507067"/>
          </a:xfrm>
        </p:spPr>
        <p:txBody>
          <a:bodyPr/>
          <a:lstStyle/>
          <a:p>
            <a:r>
              <a:rPr lang="es-CO" dirty="0"/>
              <a:t>Problema identificado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9131C8-83FE-1243-ADAC-932E12F4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3</a:t>
            </a:fld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D9E1EF-337A-D849-94EA-7707A953509A}"/>
              </a:ext>
            </a:extLst>
          </p:cNvPr>
          <p:cNvSpPr txBox="1"/>
          <p:nvPr/>
        </p:nvSpPr>
        <p:spPr>
          <a:xfrm>
            <a:off x="4209370" y="2521059"/>
            <a:ext cx="720438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Incremento gradual en el mal uso del lenguaje español acompañado de problemas de ortografía y redacción, sumado a la deficiente comprensión de lectura, en la generación </a:t>
            </a:r>
            <a:r>
              <a:rPr lang="es-CO" sz="2400" dirty="0" err="1"/>
              <a:t>milenians</a:t>
            </a:r>
            <a:endParaRPr lang="es-CO" sz="2400" dirty="0"/>
          </a:p>
          <a:p>
            <a:endParaRPr lang="es-CO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CBCB73-08C0-40FA-89A0-3A8736D0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24" y="2184227"/>
            <a:ext cx="2489546" cy="248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59226"/>
      </p:ext>
    </p:extLst>
  </p:cSld>
  <p:clrMapOvr>
    <a:masterClrMapping/>
  </p:clrMapOvr>
  <p:transition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imagenes gratis de instituciones educativas animadas">
            <a:extLst>
              <a:ext uri="{FF2B5EF4-FFF2-40B4-BE49-F238E27FC236}">
                <a16:creationId xmlns:a16="http://schemas.microsoft.com/office/drawing/2014/main" id="{98A26661-578C-4002-AF3E-F3BB96DFD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9619"/>
            <a:ext cx="4764332" cy="221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7578CA-55C6-334C-889A-80C7B918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20" y="0"/>
            <a:ext cx="8534400" cy="1507067"/>
          </a:xfrm>
        </p:spPr>
        <p:txBody>
          <a:bodyPr/>
          <a:lstStyle/>
          <a:p>
            <a:r>
              <a:rPr lang="es-CO" dirty="0"/>
              <a:t>Clientes o usuarios definidos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9131C8-83FE-1243-ADAC-932E12F4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4</a:t>
            </a:fld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D9E1EF-337A-D849-94EA-7707A953509A}"/>
              </a:ext>
            </a:extLst>
          </p:cNvPr>
          <p:cNvSpPr txBox="1"/>
          <p:nvPr/>
        </p:nvSpPr>
        <p:spPr>
          <a:xfrm>
            <a:off x="4138728" y="2390549"/>
            <a:ext cx="720438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s-CO" sz="4000" dirty="0"/>
              <a:t>Instituciones educativas de enseñanza primaria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CO" sz="4000" dirty="0"/>
          </a:p>
          <a:p>
            <a:pPr marL="342900" indent="-342900" algn="just">
              <a:buFont typeface="Arial" pitchFamily="34" charset="0"/>
              <a:buChar char="•"/>
            </a:pPr>
            <a:endParaRPr lang="es-CO" sz="40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CO" sz="4000" dirty="0"/>
              <a:t>Niños y niñas hasta 9 años</a:t>
            </a:r>
          </a:p>
        </p:txBody>
      </p:sp>
      <p:pic>
        <p:nvPicPr>
          <p:cNvPr id="1028" name="Picture 4" descr="Resultado de imagen para imagenes gratis de instituciones educativas animadas">
            <a:extLst>
              <a:ext uri="{FF2B5EF4-FFF2-40B4-BE49-F238E27FC236}">
                <a16:creationId xmlns:a16="http://schemas.microsoft.com/office/drawing/2014/main" id="{AE905D74-8C25-4922-82E3-3B88B0740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45965"/>
            <a:ext cx="3757728" cy="167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18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578CA-55C6-334C-889A-80C7B918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938" y="-143934"/>
            <a:ext cx="8534400" cy="1507067"/>
          </a:xfrm>
        </p:spPr>
        <p:txBody>
          <a:bodyPr/>
          <a:lstStyle/>
          <a:p>
            <a:r>
              <a:rPr lang="es-CO" dirty="0"/>
              <a:t>Solución Identificada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9131C8-83FE-1243-ADAC-932E12F4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5</a:t>
            </a:fld>
            <a:endParaRPr lang="es-CO" dirty="0"/>
          </a:p>
        </p:txBody>
      </p:sp>
      <p:pic>
        <p:nvPicPr>
          <p:cNvPr id="5" name="Marcador de contenido 6">
            <a:extLst>
              <a:ext uri="{FF2B5EF4-FFF2-40B4-BE49-F238E27FC236}">
                <a16:creationId xmlns:a16="http://schemas.microsoft.com/office/drawing/2014/main" id="{BF9EFD07-A46A-40AB-BDD3-FBD0FD22F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62" y="1867767"/>
            <a:ext cx="3848022" cy="34543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4075CEA-DC2C-424E-8FE5-7BDEC577BA15}"/>
              </a:ext>
            </a:extLst>
          </p:cNvPr>
          <p:cNvSpPr txBox="1"/>
          <p:nvPr/>
        </p:nvSpPr>
        <p:spPr>
          <a:xfrm>
            <a:off x="4711047" y="5600408"/>
            <a:ext cx="4104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M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a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t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i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l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97D2EB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d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e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 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T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i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l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d</a:t>
            </a:r>
            <a:r>
              <a:rPr kumimoji="0" lang="es-CO" sz="4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kindergarten" panose="02000603000000000000" pitchFamily="2" charset="0"/>
                <a:ea typeface="+mn-ea"/>
                <a:cs typeface="+mn-cs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888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578CA-55C6-334C-889A-80C7B918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1" y="160338"/>
            <a:ext cx="9931791" cy="1507067"/>
          </a:xfrm>
        </p:spPr>
        <p:txBody>
          <a:bodyPr>
            <a:normAutofit/>
          </a:bodyPr>
          <a:lstStyle/>
          <a:p>
            <a:r>
              <a:rPr lang="es-CO" dirty="0"/>
              <a:t>Competencia / Soluciones sustitutas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9131C8-83FE-1243-ADAC-932E12F4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6</a:t>
            </a:fld>
            <a:endParaRPr lang="es-CO" dirty="0"/>
          </a:p>
        </p:txBody>
      </p:sp>
      <p:sp>
        <p:nvSpPr>
          <p:cNvPr id="7" name="Google Shape;116;p19">
            <a:extLst>
              <a:ext uri="{FF2B5EF4-FFF2-40B4-BE49-F238E27FC236}">
                <a16:creationId xmlns:a16="http://schemas.microsoft.com/office/drawing/2014/main" id="{C1AAB4E8-FF76-45A7-8C84-78109D371F2B}"/>
              </a:ext>
            </a:extLst>
          </p:cNvPr>
          <p:cNvSpPr txBox="1">
            <a:spLocks/>
          </p:cNvSpPr>
          <p:nvPr/>
        </p:nvSpPr>
        <p:spPr>
          <a:xfrm>
            <a:off x="4038598" y="1621528"/>
            <a:ext cx="7319963" cy="409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83D"/>
              </a:buClr>
              <a:buSzPts val="4400"/>
              <a:buFont typeface="Ultra"/>
              <a:buNone/>
              <a:defRPr sz="4400" b="0" i="0" u="none" strike="noStrike" cap="none">
                <a:solidFill>
                  <a:srgbClr val="00283D"/>
                </a:solidFill>
                <a:latin typeface="Ultra"/>
                <a:ea typeface="Ultra"/>
                <a:cs typeface="Ultra"/>
                <a:sym typeface="Ult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s-CO" sz="2800" dirty="0">
                <a:latin typeface="+mn-lt"/>
              </a:rPr>
              <a:t>Existen aplicaciones en el mercado como: apalabrados, </a:t>
            </a:r>
            <a:r>
              <a:rPr lang="es-CO" sz="2800" dirty="0" err="1">
                <a:latin typeface="+mn-lt"/>
              </a:rPr>
              <a:t>cazafaltas</a:t>
            </a:r>
            <a:r>
              <a:rPr lang="es-CO" sz="2800" dirty="0">
                <a:latin typeface="+mn-lt"/>
              </a:rPr>
              <a:t>, palabra correcta y Mr. Mouse;  que buscan medir el conocimiento del lenguaje español en diferentes aspectos, pero ninguna se enfoca en la enseñanza en  etapas tempranas de la educación</a:t>
            </a:r>
          </a:p>
          <a:p>
            <a:pPr algn="just"/>
            <a:endParaRPr lang="es-CO" sz="2800" dirty="0">
              <a:latin typeface="+mn-lt"/>
            </a:endParaRPr>
          </a:p>
          <a:p>
            <a:pPr algn="just"/>
            <a:endParaRPr lang="es-CO" sz="2800" dirty="0">
              <a:latin typeface="+mn-lt"/>
            </a:endParaRPr>
          </a:p>
        </p:txBody>
      </p:sp>
      <p:sp>
        <p:nvSpPr>
          <p:cNvPr id="3" name="AutoShape 2" descr="Resultado de imagen para imagenes gratis de varias aplicacion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570677"/>
            <a:ext cx="3686020" cy="196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6638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EFF25-9D9F-4E28-8E3E-D58D3AA6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21" y="114534"/>
            <a:ext cx="10569941" cy="1507067"/>
          </a:xfrm>
        </p:spPr>
        <p:txBody>
          <a:bodyPr/>
          <a:lstStyle/>
          <a:p>
            <a:pPr algn="ctr"/>
            <a:r>
              <a:rPr lang="es-CO" dirty="0">
                <a:solidFill>
                  <a:srgbClr val="FF0000"/>
                </a:solidFill>
              </a:rPr>
              <a:t>Propuesta de Valor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036EEB-E4C7-4F82-96AF-91DCF6249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91" y="1621601"/>
            <a:ext cx="4386189" cy="46583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sz="4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mejor herramienta para aprender el uso correcto del idioma español mientras se divierte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226264-E32D-4D24-A28A-CF477936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7</a:t>
            </a:fld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3FE728-CD12-4E91-9144-351E12856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80" y="2100776"/>
            <a:ext cx="7141390" cy="401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9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41AC81-3213-42D7-A076-5B1B692C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3F14-53B4-48F7-980E-D21B6438DF91}" type="slidenum">
              <a:rPr lang="es-CO" smtClean="0"/>
              <a:t>8</a:t>
            </a:fld>
            <a:endParaRPr lang="es-CO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538F841-4393-4492-920E-054634999D2D}"/>
              </a:ext>
            </a:extLst>
          </p:cNvPr>
          <p:cNvGrpSpPr/>
          <p:nvPr/>
        </p:nvGrpSpPr>
        <p:grpSpPr>
          <a:xfrm>
            <a:off x="1620632" y="3786064"/>
            <a:ext cx="8950736" cy="852259"/>
            <a:chOff x="2122110" y="3429908"/>
            <a:chExt cx="7735747" cy="852259"/>
          </a:xfrm>
        </p:grpSpPr>
        <p:sp>
          <p:nvSpPr>
            <p:cNvPr id="7" name="Título 8">
              <a:extLst>
                <a:ext uri="{FF2B5EF4-FFF2-40B4-BE49-F238E27FC236}">
                  <a16:creationId xmlns:a16="http://schemas.microsoft.com/office/drawing/2014/main" id="{5167B4A4-86CC-4582-860C-2FDD6EB199FE}"/>
                </a:ext>
              </a:extLst>
            </p:cNvPr>
            <p:cNvSpPr txBox="1">
              <a:spLocks/>
            </p:cNvSpPr>
            <p:nvPr/>
          </p:nvSpPr>
          <p:spPr>
            <a:xfrm>
              <a:off x="2122110" y="3429908"/>
              <a:ext cx="7735747" cy="8522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s-CO" b="1" dirty="0">
                  <a:latin typeface="Maven Pro Light 300" pitchFamily="50" charset="0"/>
                </a:rPr>
                <a:t>¿Preguntas?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738B1228-B981-47F3-ACCE-727BCBCE93DA}"/>
                </a:ext>
              </a:extLst>
            </p:cNvPr>
            <p:cNvCxnSpPr>
              <a:cxnSpLocks/>
            </p:cNvCxnSpPr>
            <p:nvPr/>
          </p:nvCxnSpPr>
          <p:spPr>
            <a:xfrm>
              <a:off x="2451653" y="3462584"/>
              <a:ext cx="7103165" cy="0"/>
            </a:xfrm>
            <a:prstGeom prst="line">
              <a:avLst/>
            </a:prstGeom>
            <a:ln w="38100">
              <a:solidFill>
                <a:srgbClr val="00A8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697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6165</TotalTime>
  <Words>159</Words>
  <Application>Microsoft Office PowerPoint</Application>
  <PresentationFormat>Panorámica</PresentationFormat>
  <Paragraphs>27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Century Gothic</vt:lpstr>
      <vt:lpstr>kindergarten</vt:lpstr>
      <vt:lpstr>Maven Pro Light 300</vt:lpstr>
      <vt:lpstr>Ultra</vt:lpstr>
      <vt:lpstr>Wingdings 3</vt:lpstr>
      <vt:lpstr>Sector</vt:lpstr>
      <vt:lpstr>Aplicación para la Enseñanza y el Refuerzo de la Silabación y la Tildación en el Idioma Español</vt:lpstr>
      <vt:lpstr>Equipo de trabajo</vt:lpstr>
      <vt:lpstr>Problema identificado</vt:lpstr>
      <vt:lpstr>Clientes o usuarios definidos</vt:lpstr>
      <vt:lpstr>Solución Identificada</vt:lpstr>
      <vt:lpstr>Competencia / Soluciones sustitutas</vt:lpstr>
      <vt:lpstr>Propuesta de Valor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Jhónatan Rentería</dc:creator>
  <cp:lastModifiedBy>José Agustín Palomino</cp:lastModifiedBy>
  <cp:revision>487</cp:revision>
  <cp:lastPrinted>2019-04-25T16:51:33Z</cp:lastPrinted>
  <dcterms:created xsi:type="dcterms:W3CDTF">2018-10-03T04:01:44Z</dcterms:created>
  <dcterms:modified xsi:type="dcterms:W3CDTF">2019-10-03T00:24:48Z</dcterms:modified>
</cp:coreProperties>
</file>